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097280"/>
            <a:ext cx="3959352" cy="502920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115568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PROPUESTA DE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Membresías PetColinas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227"/>
                </a:solidFill>
                <a:latin typeface="Calibri"/>
              </a:rPr>
              <a:t>Ingresos recurrentes · Clientes más leales · Crecimiento sostenido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749039"/>
            <a:ext cx="39593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DF8F0"/>
                </a:solidFill>
                <a:latin typeface="Calibri"/>
              </a:rPr>
              <a:t>@petcolinas  ·  809-752-6806  ·  Plaza Las Colinas, SDO</a:t>
            </a:r>
          </a:p>
        </p:txBody>
      </p:sp>
      <p:pic>
        <p:nvPicPr>
          <p:cNvPr id="11" name="Picture 10" descr="logo_petcol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754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6B3A"/>
                </a:solidFill>
                <a:latin typeface="Calibri"/>
              </a:rPr>
              <a:t>¿Por qué crear membresías?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0" cy="54864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772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640080" cy="10058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704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Ingresos fijos garantizados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7276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Cada mes sabes exactamente cuánto vas a facturar, sin depender solo de los días buenos.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7772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76272"/>
            <a:ext cx="640080" cy="10058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494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Clientes que vuelven solos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517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Un miembro no busca otra peluquería. Ya pagó — y viene cada 2 semanas por default.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55264"/>
            <a:ext cx="7772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55264"/>
            <a:ext cx="640080" cy="10058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564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3284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Ticket promedio más alto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3075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Los miembros gastan más en extras y farmacia porque ya tienen la confianza y el descuento.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34256"/>
            <a:ext cx="7772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34256"/>
            <a:ext cx="640080" cy="10058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3542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Diferenciación en el mercado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809744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Pocas veterinarias en SDO tienen plan de membresía. Nos posiciona como la opción premium.</a:t>
            </a:r>
          </a:p>
        </p:txBody>
      </p:sp>
      <p:pic>
        <p:nvPicPr>
          <p:cNvPr id="26" name="Picture 25" descr="logo_petcol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6B3A"/>
                </a:solidFill>
                <a:latin typeface="Calibri"/>
              </a:rPr>
              <a:t>Lo que ya sabemos de nuestros clientes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155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560320" cy="8229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Frecuencia de visita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Cada 2–3 semanas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0876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Son clientes regulares, no esporádicos.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11155680" cy="82296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2560320" cy="822960"/>
          </a:xfrm>
          <a:prstGeom prst="rect">
            <a:avLst/>
          </a:prstGeom>
          <a:solidFill>
            <a:srgbClr val="14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128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Tamaño de mascotas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Pequeños y medianos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2316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Poodles, Shih Tzu, Maltés, Cocker — pelo que requiere mantenimiento frecuente.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11155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2560320" cy="8229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272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Gasto mensual actual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RD$1,598–RD$1,898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33756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Solo en baños, sin contar extras ni vet.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11155680" cy="82296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2560320" cy="822960"/>
          </a:xfrm>
          <a:prstGeom prst="rect">
            <a:avLst/>
          </a:prstGeom>
          <a:solidFill>
            <a:srgbClr val="14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416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Servicios que usan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Grooming + veterinaria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25196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Ya combinan ambos servicios — perfectos para un plan completo.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54880"/>
            <a:ext cx="11155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754880"/>
            <a:ext cx="2560320" cy="8229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560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Comportamiento esperado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Alta retención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16636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Un cliente de membresía no cambia de lugar fácilmente.</a:t>
            </a:r>
          </a:p>
        </p:txBody>
      </p:sp>
      <p:pic>
        <p:nvPicPr>
          <p:cNvPr id="31" name="Picture 30" descr="logo_petcol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F8F0"/>
                </a:solidFill>
                <a:latin typeface="Calibri"/>
              </a:rPr>
              <a:t>PLAN BÁSICO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RD$1,499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85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DF8F0"/>
                </a:solidFill>
                <a:latin typeface="Calibri"/>
              </a:rPr>
              <a:t>/ mes · por mascota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DF8F0"/>
                </a:solidFill>
                <a:latin typeface="Calibri"/>
              </a:rPr>
              <a:t>Para dueños que quieren grooming regular garantizado + beneficios veterinarios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502920" cy="71323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647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550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2 baños completos al 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933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Perros hasta 25 kg (pequeño o mediano)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86584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386584"/>
            <a:ext cx="502920" cy="71323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511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41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Corte de uñas gratis en cada visita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7797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Incluido sin costo adicional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72968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72968"/>
            <a:ext cx="502920" cy="71323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3375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2278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Turno prioritario garantizado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Sin largas esperas — entra antes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59352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59352"/>
            <a:ext cx="502920" cy="71323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1239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0142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10% OFF en cortes y servicios extra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35254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Corte completo, baño medicado, más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45736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745736"/>
            <a:ext cx="502920" cy="71323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910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00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10% OFF en farmacia veterinaria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38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Medicamentos y productos caninos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32120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532120"/>
            <a:ext cx="502920" cy="71323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6967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5869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10% OFF en consultas veterinarias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9253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Cuando lo necesites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1600200"/>
            <a:ext cx="3017520" cy="20116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DF8F0"/>
                </a:solidFill>
                <a:latin typeface="Calibri"/>
              </a:rPr>
              <a:t>AHORRO MENSUAL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2011680"/>
            <a:ext cx="2651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DF8F0"/>
                </a:solidFill>
                <a:latin typeface="Calibri"/>
              </a:rPr>
              <a:t>Perro pequeño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2423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27"/>
                </a:solidFill>
                <a:latin typeface="Calibri"/>
              </a:rPr>
              <a:t>RD$299+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DF8F0"/>
                </a:solidFill>
                <a:latin typeface="Calibri"/>
              </a:rPr>
              <a:t>Perro mediano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227"/>
                </a:solidFill>
                <a:latin typeface="Calibri"/>
              </a:rPr>
              <a:t>RD$599+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3520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DF8F0"/>
                </a:solidFill>
                <a:latin typeface="Calibri"/>
              </a:rPr>
              <a:t>solo en baños · más los descuentos</a:t>
            </a:r>
          </a:p>
        </p:txBody>
      </p:sp>
      <p:pic>
        <p:nvPicPr>
          <p:cNvPr id="48" name="Picture 47" descr="logo_petcol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093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F8F0"/>
                </a:solidFill>
                <a:latin typeface="Calibri"/>
              </a:rPr>
              <a:t>PLAN PLUS  ★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RD$2,499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685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DF8F0"/>
                </a:solidFill>
                <a:latin typeface="Calibri"/>
              </a:rPr>
              <a:t>/ mes · por mascota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DF8F0"/>
                </a:solidFill>
                <a:latin typeface="Calibri"/>
              </a:rPr>
              <a:t>El pack completo: grooming profesional + atención veterinaria incluida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502920" cy="713232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647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550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2 baños completos al 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933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Perros hasta 25 kg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86584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386584"/>
            <a:ext cx="502920" cy="713232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511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41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1 corte completo mensual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7797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 medida según la raza y preferencia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72968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72968"/>
            <a:ext cx="502920" cy="713232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3375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2278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1 consulta veterinaria de rutina mensual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Revisión y seguimiento — no incluye cirugías ni urgencias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59352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59352"/>
            <a:ext cx="502920" cy="713232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1239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0142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Desparasitación trimestral incluida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35254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Albendazol cada 3 meses — sin costo adicional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45736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745736"/>
            <a:ext cx="502920" cy="713232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910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00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Turno VIP exclusivo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38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Primer turno disponible — sin espera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32120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532120"/>
            <a:ext cx="502920" cy="713232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6967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5869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15% OFF en farmacia y servicios adicionales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9253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El mayor descuento disponible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1600200"/>
            <a:ext cx="3017520" cy="2560320"/>
          </a:xfrm>
          <a:prstGeom prst="rect">
            <a:avLst/>
          </a:prstGeom>
          <a:solidFill>
            <a:srgbClr val="14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DF8F0"/>
                </a:solidFill>
                <a:latin typeface="Calibri"/>
              </a:rPr>
              <a:t>VALOR MENSUAL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2011680"/>
            <a:ext cx="2651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208483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0"/>
                </a:solidFill>
                <a:latin typeface="Calibri"/>
              </a:rPr>
              <a:t>2 baños mediano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2084831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RD$1,898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4505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0"/>
                </a:solidFill>
                <a:latin typeface="Calibri"/>
              </a:rPr>
              <a:t>1 corte completo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450591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RD$749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28163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0"/>
                </a:solidFill>
                <a:latin typeface="Calibri"/>
              </a:rPr>
              <a:t>1 consulta vet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2816351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RD$1,500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18211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DF8F0"/>
                </a:solidFill>
                <a:latin typeface="Calibri"/>
              </a:rPr>
              <a:t>Desparasit. (÷3)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3182111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RD$100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3547871"/>
            <a:ext cx="26517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362102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F8F0"/>
                </a:solidFill>
                <a:latin typeface="Calibri"/>
              </a:rPr>
              <a:t>Total valor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621023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227"/>
                </a:solidFill>
                <a:latin typeface="Calibri"/>
              </a:rPr>
              <a:t>RD$4,247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3986783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Ahorras RD$1,748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32511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DF8F0"/>
                </a:solidFill>
                <a:latin typeface="Calibri"/>
              </a:rPr>
              <a:t>(41% de descuento)</a:t>
            </a:r>
          </a:p>
        </p:txBody>
      </p:sp>
      <p:pic>
        <p:nvPicPr>
          <p:cNvPr id="56" name="Picture 55" descr="logo_petcol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093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6B3A"/>
                </a:solidFill>
                <a:latin typeface="Calibri"/>
              </a:rPr>
              <a:t>Comparación de planes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8229600" cy="54864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0" y="1005840"/>
            <a:ext cx="3291840" cy="6858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0789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BÁSICO  RD$1,499/mes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005840"/>
            <a:ext cx="3291840" cy="685800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0789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PLUS  RD$2,499/mes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880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3291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828800"/>
            <a:ext cx="3291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568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2 baños mensuales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385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B3A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385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B3A"/>
                </a:solidFill>
                <a:latin typeface="Calibri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32304"/>
            <a:ext cx="288036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2432304"/>
            <a:ext cx="329184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2432304"/>
            <a:ext cx="329184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Corte de uñas gratis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5420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B3A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420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B3A"/>
                </a:solidFill>
                <a:latin typeface="Calibr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35808"/>
            <a:ext cx="2880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3035808"/>
            <a:ext cx="3291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3035808"/>
            <a:ext cx="3291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638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Turno prioritario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145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B3A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145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5F1E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639312"/>
            <a:ext cx="288036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3639312"/>
            <a:ext cx="329184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3639312"/>
            <a:ext cx="329184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673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Turno VIP (primer turno)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7490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5F1E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7490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B3A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42816"/>
            <a:ext cx="2880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83280" y="4242816"/>
            <a:ext cx="3291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4242816"/>
            <a:ext cx="3291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3708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1 corte completo mensual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3525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5F1E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3525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B3A"/>
                </a:solidFill>
                <a:latin typeface="Calibr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846320"/>
            <a:ext cx="288036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83280" y="4846320"/>
            <a:ext cx="329184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0" y="4846320"/>
            <a:ext cx="329184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Consulta vet. de rutina mensual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4956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5F1E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956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B3A"/>
                </a:solidFill>
                <a:latin typeface="Calibr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449824"/>
            <a:ext cx="2880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83280" y="5449824"/>
            <a:ext cx="3291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0" y="5449824"/>
            <a:ext cx="3291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577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Desparasitación trimestral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5559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5F1E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559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6B3A"/>
                </a:solidFill>
                <a:latin typeface="Calibri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053328"/>
            <a:ext cx="288036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83280" y="6053328"/>
            <a:ext cx="329184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58000" y="6053328"/>
            <a:ext cx="3291840" cy="566928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1813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Descuento en extras y farmacia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61630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alibri"/>
              </a:rPr>
              <a:t>10%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61630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alibri"/>
              </a:rPr>
              <a:t>15%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656832"/>
            <a:ext cx="2880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83280" y="6656832"/>
            <a:ext cx="3291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58000" y="6656832"/>
            <a:ext cx="3291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7848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Descuento en consultas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6766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alibri"/>
              </a:rPr>
              <a:t>10%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6766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alibri"/>
              </a:rPr>
              <a:t>—  (incluida)</a:t>
            </a:r>
          </a:p>
        </p:txBody>
      </p:sp>
      <p:pic>
        <p:nvPicPr>
          <p:cNvPr id="64" name="Picture 63" descr="logo_petcol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6B3A"/>
                </a:solidFill>
                <a:latin typeface="Calibri"/>
              </a:rPr>
              <a:t>Oferta Segunda Mascota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9144000" cy="54864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Calibri"/>
              </a:rPr>
              <a:t>50% de descuento en la membresía del mismo plan para una segunda mascota.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486400" cy="43891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Plan BÁSICO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4572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DF8F0"/>
                </a:solidFill>
                <a:latin typeface="Calibri"/>
              </a:rPr>
              <a:t>1ra mascota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231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27"/>
                </a:solidFill>
                <a:latin typeface="Calibri"/>
              </a:rPr>
              <a:t>RD$1,499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80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DF8F0"/>
                </a:solidFill>
                <a:latin typeface="Calibri"/>
              </a:rPr>
              <a:t>2da mascota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80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27"/>
                </a:solidFill>
                <a:latin typeface="Calibri"/>
              </a:rPr>
              <a:t>RD$750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29000"/>
            <a:ext cx="45720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547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DF8F0"/>
                </a:solidFill>
                <a:latin typeface="Calibri"/>
              </a:rPr>
              <a:t>TOTAL MENSUAL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91363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RD$2,249/mes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DF8F0"/>
                </a:solidFill>
                <a:latin typeface="Calibri"/>
              </a:rPr>
              <a:t>vs RD$2,998 pagando individual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00200"/>
            <a:ext cx="5486400" cy="4389120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Plan PLUS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286000"/>
            <a:ext cx="4572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4231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DF8F0"/>
                </a:solidFill>
                <a:latin typeface="Calibri"/>
              </a:rPr>
              <a:t>1ra mascota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4231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27"/>
                </a:solidFill>
                <a:latin typeface="Calibri"/>
              </a:rPr>
              <a:t>RD$2,499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80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DF8F0"/>
                </a:solidFill>
                <a:latin typeface="Calibri"/>
              </a:rPr>
              <a:t>2da mascota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880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27"/>
                </a:solidFill>
                <a:latin typeface="Calibri"/>
              </a:rPr>
              <a:t>RD$1,250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429000"/>
            <a:ext cx="45720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547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DF8F0"/>
                </a:solidFill>
                <a:latin typeface="Calibri"/>
              </a:rPr>
              <a:t>TOTAL MENSUAL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91363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RD$3,749/mes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DF8F0"/>
                </a:solidFill>
                <a:latin typeface="Calibri"/>
              </a:rPr>
              <a:t>vs RD$4,998 pagando individual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★  Esta oferta aplica solo para miembros activos y para mascotas del mismo dueño.</a:t>
            </a:r>
          </a:p>
        </p:txBody>
      </p:sp>
      <p:pic>
        <p:nvPicPr>
          <p:cNvPr id="30" name="Picture 29" descr="logo_petcol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6B3A"/>
                </a:solidFill>
                <a:latin typeface="Calibri"/>
              </a:rPr>
              <a:t>¿Qué significa esto para el negocio?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0058400" cy="54864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Proyección de ingresos mensuales recurrentes — solo por membresías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155680" cy="10972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F8F0"/>
                </a:solidFill>
                <a:latin typeface="Calibri"/>
              </a:rPr>
              <a:t>INICIO CONSERVADOR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DF8F0"/>
                </a:solidFill>
                <a:latin typeface="Calibri"/>
              </a:rPr>
              <a:t>10 Básico + 5 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0992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RD$27,490/mes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58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8F0"/>
                </a:solidFill>
                <a:latin typeface="Calibri"/>
              </a:rPr>
              <a:t>mensuales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0992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  <a:latin typeface="Calibri"/>
              </a:rPr>
              <a:t>RD$329,880/año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58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8F0"/>
                </a:solidFill>
                <a:latin typeface="Calibri"/>
              </a:rPr>
              <a:t>al año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11155680" cy="1097280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706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F8F0"/>
                </a:solidFill>
                <a:latin typeface="Calibri"/>
              </a:rPr>
              <a:t>CRECIMIENTO MODERADO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DF8F0"/>
                </a:solidFill>
                <a:latin typeface="Calibri"/>
              </a:rPr>
              <a:t>20 Básico + 15 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9864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RD$67,460/mes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447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8F0"/>
                </a:solidFill>
                <a:latin typeface="Calibri"/>
              </a:rPr>
              <a:t>mensuales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9864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  <a:latin typeface="Calibri"/>
              </a:rPr>
              <a:t>RD$809,520/año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447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8F0"/>
                </a:solidFill>
                <a:latin typeface="Calibri"/>
              </a:rPr>
              <a:t>al año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11155680" cy="1097280"/>
          </a:xfrm>
          <a:prstGeom prst="rect">
            <a:avLst/>
          </a:prstGeom>
          <a:solidFill>
            <a:srgbClr val="14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593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F8F0"/>
                </a:solidFill>
                <a:latin typeface="Calibri"/>
              </a:rPr>
              <a:t>ESCENARIO IDEAL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DF8F0"/>
                </a:solidFill>
                <a:latin typeface="Calibri"/>
              </a:rPr>
              <a:t>40 Básico + 30 Plus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0873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RD$134,920/mes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6360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8F0"/>
                </a:solidFill>
                <a:latin typeface="Calibri"/>
              </a:rPr>
              <a:t>mensuales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0873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  <a:latin typeface="Calibri"/>
              </a:rPr>
              <a:t>RD$1,619,040/año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6360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DF8F0"/>
                </a:solidFill>
                <a:latin typeface="Calibri"/>
              </a:rPr>
              <a:t>al año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★  Ingresos fijos antes de contar los servicios individuales, los extras de los miembros y la farmacia.</a:t>
            </a:r>
          </a:p>
        </p:txBody>
      </p:sp>
      <p:pic>
        <p:nvPicPr>
          <p:cNvPr id="29" name="Picture 28" descr="logo_petcol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6B3A"/>
                </a:solidFill>
                <a:latin typeface="Calibri"/>
              </a:rPr>
              <a:t>Plan de lanzamiento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8229600" cy="54864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155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685800" cy="11887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247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Semana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17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Aprobación interna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344168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Ajustar los detalles del plan, imprimir materiales, capacitar al equipo.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50008"/>
            <a:ext cx="11155680" cy="11887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350008"/>
            <a:ext cx="685800" cy="1188720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7004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Semana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157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Pre-lanzamiento en redes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642616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Publicar teasers en Instagram con conteo regresivo — generar expectativa.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11155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48456"/>
            <a:ext cx="685800" cy="11887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96849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216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Semana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142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Lanzamiento oficial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941064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Post de anuncio completo en Instagram + oferta de 'fundadores' para los primeros 10 miembros.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46904"/>
            <a:ext cx="11155680" cy="11887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946904"/>
            <a:ext cx="685800" cy="1188720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26694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0200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Semana 4+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1266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Captación activa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239512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Ofrecer la membresía a cada cliente que venga, medir conversión y ajustar.</a:t>
            </a:r>
          </a:p>
        </p:txBody>
      </p:sp>
      <p:pic>
        <p:nvPicPr>
          <p:cNvPr id="30" name="Picture 29" descr="logo_petcol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3093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Las membresías no son un gasto para el cliente.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227"/>
                </a:solidFill>
                <a:latin typeface="Calibri"/>
              </a:rPr>
              <a:t>Son la razón para que siempre vuelva a nosotros.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4612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DF8F0"/>
                </a:solidFill>
                <a:latin typeface="Calibri"/>
              </a:rPr>
              <a:t>Con solo 20 miembros cubrimos nómina.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DF8F0"/>
                </a:solidFill>
                <a:latin typeface="Calibri"/>
              </a:rPr>
              <a:t>Con 50 miembros construimos el negocio.</a:t>
            </a:r>
          </a:p>
        </p:txBody>
      </p:sp>
      <p:pic>
        <p:nvPicPr>
          <p:cNvPr id="10" name="Picture 9" descr="logo_petcoli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466344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